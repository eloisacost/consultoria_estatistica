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5240000" cy="85725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84C4AF-6A05-37E0-BF05-64778D457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1CE1F6-AFA6-727A-8A51-7D0D94BE3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81BCE5-3012-6DC8-185D-E065EEFA5F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66452-D678-12FE-5B97-AE9AF678C3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02A32-74C5-C249-AAD0-00EFACC775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A44600-9AAD-6653-C8BB-B67A15648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4A8BCA-12AB-EBFF-DDAF-C20892EE6A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595C2-76F2-0F65-F255-526D0B690C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4DD356-128B-29E9-EEA0-D6F8D14895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48C09A-ADF1-BB92-E7CF-478486256D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9D156A-0754-FD14-1FAC-076B9AF77E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CCF5C-3C1B-9318-B894-AA4C378829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77455-A00E-B3BA-4FB4-8FCC5450DF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038D3B-9C99-B640-FD2A-F93CEEA022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9F94BE-62CE-71B7-E588-8607FFA6AC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017532-59CE-BA4F-B7F7-24CBFEBB9A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721A88-B469-072B-8B00-6D2FDE7A68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57937C-73A4-1B3E-C5A6-4D0E0573DB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43B72-4647-0E6A-0564-D8E363DD52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EE6C3A-49FD-E008-C533-7BAC08F1BE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36045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11980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31059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388751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19231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2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51962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06270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556188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3763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90592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25211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3913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64111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95763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205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182390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02609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75256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067235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735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9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9525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12734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5058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37051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0542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924528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892470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1406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9745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339940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696077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07266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3421746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478937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9045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601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88763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17768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096041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2118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9120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069650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89487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68079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509936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714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0781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806465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99493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85833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463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85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11372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12065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21582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34240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09161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37736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0438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978592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67238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media3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358429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307929178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850509333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/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8451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898153801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740476280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741706148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79591274" name="TextBox 6"/>
          <p:cNvSpPr txBox="1"/>
          <p:nvPr/>
        </p:nvSpPr>
        <p:spPr bwMode="auto">
          <a:xfrm rot="0">
            <a:off x="975127" y="1893969"/>
            <a:ext cx="402676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O D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esafio de Negócio</a:t>
            </a:r>
            <a:endParaRPr/>
          </a:p>
        </p:txBody>
      </p:sp>
      <p:sp>
        <p:nvSpPr>
          <p:cNvPr id="1074004120" name="TextBox 7"/>
          <p:cNvSpPr txBox="1"/>
          <p:nvPr/>
        </p:nvSpPr>
        <p:spPr bwMode="auto">
          <a:xfrm rot="0">
            <a:off x="975127" y="2841809"/>
            <a:ext cx="12688367" cy="1298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Cenário da Empr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esa: A operadora de telecomunicações enfrenta um dos maiores inimigos da lucratividade moderna: a perda constante de receita através da evasão de clientes (o famoso </a:t>
            </a:r>
            <a:r>
              <a:rPr lang="en-US" sz="25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Churn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).</a:t>
            </a:r>
            <a:endParaRPr/>
          </a:p>
        </p:txBody>
      </p:sp>
      <p:sp>
        <p:nvSpPr>
          <p:cNvPr id="1815491384" name="TextBox 8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2</a:t>
            </a:r>
            <a:endParaRPr/>
          </a:p>
        </p:txBody>
      </p:sp>
      <p:sp>
        <p:nvSpPr>
          <p:cNvPr id="1639414158" name="TextBox 9"/>
          <p:cNvSpPr txBox="1"/>
          <p:nvPr/>
        </p:nvSpPr>
        <p:spPr bwMode="auto">
          <a:xfrm rot="0">
            <a:off x="975127" y="4397559"/>
            <a:ext cx="1238898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A Missão da RET Co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nsultoria: Nossa equipe foi contratada para encontrar o padrão escondido nesses cancelamentos. O nosso objetivo é usar a inteligência dos dados para identificar clientes com alto risco de saída e ajudar a diretoria a desenvolver estratégias preditivas de retenção.</a:t>
            </a:r>
            <a:endParaRPr/>
          </a:p>
        </p:txBody>
      </p:sp>
      <p:sp>
        <p:nvSpPr>
          <p:cNvPr id="2080430017" name="TextBox 10"/>
          <p:cNvSpPr txBox="1"/>
          <p:nvPr/>
        </p:nvSpPr>
        <p:spPr bwMode="auto">
          <a:xfrm rot="0">
            <a:off x="857250" y="777501"/>
            <a:ext cx="12242681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ts val="0"/>
              </a:spcBef>
              <a:defRPr/>
            </a:pPr>
            <a:r>
              <a:rPr lang="en-US" sz="340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</a:rPr>
              <a:t>Predição de Churn de Clientes em Telecomunicações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587580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785117469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734480031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838071410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38106531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3</a:t>
            </a:r>
            <a:endParaRPr/>
          </a:p>
        </p:txBody>
      </p:sp>
      <p:sp>
        <p:nvSpPr>
          <p:cNvPr id="241045912" name="TextBox 7"/>
          <p:cNvSpPr txBox="1"/>
          <p:nvPr/>
        </p:nvSpPr>
        <p:spPr bwMode="auto">
          <a:xfrm rot="0">
            <a:off x="857250" y="739401"/>
            <a:ext cx="6463977" cy="86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O E</a:t>
            </a: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scopo do Projeto </a:t>
            </a:r>
            <a:endParaRPr/>
          </a:p>
        </p:txBody>
      </p:sp>
      <p:sp>
        <p:nvSpPr>
          <p:cNvPr id="79578498" name="TextBox 8"/>
          <p:cNvSpPr txBox="1"/>
          <p:nvPr/>
        </p:nvSpPr>
        <p:spPr bwMode="auto">
          <a:xfrm rot="0">
            <a:off x="857250" y="1954294"/>
            <a:ext cx="1260378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Para re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solver o problema de negócio e estancar a perda de clientes, a diretoria nos exigiu algumas respostas para seis perguntas centrais:</a:t>
            </a:r>
            <a:endParaRPr/>
          </a:p>
        </p:txBody>
      </p:sp>
      <p:sp>
        <p:nvSpPr>
          <p:cNvPr id="831681254" name="TextBox 9"/>
          <p:cNvSpPr txBox="1"/>
          <p:nvPr/>
        </p:nvSpPr>
        <p:spPr bwMode="auto">
          <a:xfrm rot="0">
            <a:off x="857250" y="3032265"/>
            <a:ext cx="9065047" cy="290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6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Clientes com co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ntratos mensais cancelam mais?</a:t>
            </a:r>
            <a:endParaRPr/>
          </a:p>
          <a:p>
            <a:pPr marL="539749" lvl="1" indent="-269875" algn="l">
              <a:lnSpc>
                <a:spcPts val="46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Certos métodos de pagamento estão atraindo a evasão?</a:t>
            </a:r>
            <a:endParaRPr/>
          </a:p>
          <a:p>
            <a:pPr marL="539749" lvl="1" indent="-269875" algn="l">
              <a:lnSpc>
                <a:spcPts val="46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tempo de permanência influencia a lealdade?</a:t>
            </a:r>
            <a:endParaRPr/>
          </a:p>
          <a:p>
            <a:pPr marL="539749" lvl="1" indent="-269875" algn="l">
              <a:lnSpc>
                <a:spcPts val="46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Há algum gargalo no serviço de Fibra Óptica?</a:t>
            </a:r>
            <a:endParaRPr/>
          </a:p>
          <a:p>
            <a:pPr marL="539749" lvl="1" indent="-269875" algn="l">
              <a:lnSpc>
                <a:spcPts val="46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Serviços adicionais realmente ajudam a segurar o cliente?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077114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368850390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888453660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2097799390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930697634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4</a:t>
            </a:r>
            <a:endParaRPr/>
          </a:p>
        </p:txBody>
      </p:sp>
      <p:sp>
        <p:nvSpPr>
          <p:cNvPr id="153172156" name="TextBox 7"/>
          <p:cNvSpPr txBox="1"/>
          <p:nvPr/>
        </p:nvSpPr>
        <p:spPr bwMode="auto">
          <a:xfrm rot="0">
            <a:off x="7615238" y="391668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37231924" name="TextBox 8"/>
          <p:cNvSpPr txBox="1"/>
          <p:nvPr/>
        </p:nvSpPr>
        <p:spPr bwMode="auto">
          <a:xfrm rot="0" flipH="0" flipV="0">
            <a:off x="1003249" y="1152244"/>
            <a:ext cx="11223385" cy="7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nálise Descritiva e Exploratória</a:t>
            </a:r>
            <a:endParaRPr/>
          </a:p>
        </p:txBody>
      </p:sp>
      <p:sp>
        <p:nvSpPr>
          <p:cNvPr id="28472890" name="TextBox 9"/>
          <p:cNvSpPr txBox="1"/>
          <p:nvPr/>
        </p:nvSpPr>
        <p:spPr bwMode="auto">
          <a:xfrm rot="0">
            <a:off x="1003250" y="2351169"/>
            <a:ext cx="46426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O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 que vamos investigar?</a:t>
            </a:r>
            <a:endParaRPr/>
          </a:p>
        </p:txBody>
      </p:sp>
      <p:sp>
        <p:nvSpPr>
          <p:cNvPr id="1941424938" name="TextBox 10"/>
          <p:cNvSpPr txBox="1"/>
          <p:nvPr/>
        </p:nvSpPr>
        <p:spPr bwMode="auto">
          <a:xfrm rot="0">
            <a:off x="857250" y="3306592"/>
            <a:ext cx="10648384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9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Compree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nder os componentes que estruturam o nosso público.</a:t>
            </a:r>
            <a:endParaRPr/>
          </a:p>
          <a:p>
            <a:pPr marL="539749" lvl="1" indent="-269875" algn="l">
              <a:lnSpc>
                <a:spcPts val="39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Analisar a distribuição do tempo de contrato </a:t>
            </a:r>
            <a:r>
              <a:rPr lang="en-US" sz="25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Tenure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, valores pagos e perfil comportamental.</a:t>
            </a:r>
            <a:endParaRPr/>
          </a:p>
        </p:txBody>
      </p:sp>
      <p:sp>
        <p:nvSpPr>
          <p:cNvPr id="1254152525" name="TextBox 11"/>
          <p:cNvSpPr txBox="1"/>
          <p:nvPr/>
        </p:nvSpPr>
        <p:spPr bwMode="auto">
          <a:xfrm rot="0">
            <a:off x="1152451" y="5259926"/>
            <a:ext cx="845232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Qualidad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 e Estrutura do Conjunto de Dados</a:t>
            </a:r>
            <a:endParaRPr/>
          </a:p>
        </p:txBody>
      </p:sp>
      <p:sp>
        <p:nvSpPr>
          <p:cNvPr id="935629283" name="TextBox 12"/>
          <p:cNvSpPr txBox="1"/>
          <p:nvPr/>
        </p:nvSpPr>
        <p:spPr bwMode="auto">
          <a:xfrm rot="0">
            <a:off x="1003250" y="6134285"/>
            <a:ext cx="9106123" cy="143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84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Volume: 594.194 registros.</a:t>
            </a:r>
            <a:endParaRPr/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Variáveis: 21 colunas no total.</a:t>
            </a:r>
            <a:endParaRPr/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Integridade: Base 100% preenchida (sem dados faltantes).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456609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850815395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68452790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430379167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27630311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5</a:t>
            </a:r>
            <a:endParaRPr/>
          </a:p>
        </p:txBody>
      </p:sp>
      <p:sp>
        <p:nvSpPr>
          <p:cNvPr id="857015598" name="TextBox 7"/>
          <p:cNvSpPr txBox="1"/>
          <p:nvPr/>
        </p:nvSpPr>
        <p:spPr bwMode="auto">
          <a:xfrm rot="0">
            <a:off x="857250" y="787026"/>
            <a:ext cx="407714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strutura e Variáveis </a:t>
            </a:r>
            <a:endParaRPr/>
          </a:p>
        </p:txBody>
      </p:sp>
      <p:sp>
        <p:nvSpPr>
          <p:cNvPr id="581581817" name="TextBox 8"/>
          <p:cNvSpPr txBox="1"/>
          <p:nvPr/>
        </p:nvSpPr>
        <p:spPr bwMode="auto">
          <a:xfrm rot="0">
            <a:off x="857250" y="1822092"/>
            <a:ext cx="12834595" cy="591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Nossas 21 variáveis estão divididas em 4 pilares principais:</a:t>
            </a:r>
            <a:endParaRPr/>
          </a:p>
          <a:p>
            <a:pPr algn="just">
              <a:lnSpc>
                <a:spcPts val="3499"/>
              </a:lnSpc>
              <a:defRPr/>
            </a:pPr>
            <a:endParaRPr lang="en-US" sz="25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Perfil Demográfico: características do cliente como gênero, faixa etária (</a:t>
            </a:r>
            <a:r>
              <a:rPr lang="en-US" sz="25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SeniorCitizen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), parceiros e dependentes.</a:t>
            </a:r>
            <a:endParaRPr/>
          </a:p>
          <a:p>
            <a:pPr algn="just">
              <a:lnSpc>
                <a:spcPts val="1899"/>
              </a:lnSpc>
              <a:defRPr/>
            </a:pPr>
            <a:endParaRPr lang="en-US" sz="25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Serviços Contratados: i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nfraestrutura de telefonia e internet, além de pacotes adicionais (segurança online, backup, streaming, etc.).</a:t>
            </a:r>
            <a:endParaRPr/>
          </a:p>
          <a:p>
            <a:pPr algn="just">
              <a:lnSpc>
                <a:spcPts val="3499"/>
              </a:lnSpc>
              <a:defRPr/>
            </a:pPr>
            <a:endParaRPr lang="en-US" sz="25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Informações Financeiras: relação contratual (tempo de permanência/</a:t>
            </a:r>
            <a:r>
              <a:rPr lang="en-US" sz="25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tenure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, tipo de contrato, método de pagamento) e as variáveis contínuas de custo (</a:t>
            </a:r>
            <a:r>
              <a:rPr lang="en-US" sz="25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Monthly/Total Charges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).</a:t>
            </a:r>
            <a:endParaRPr/>
          </a:p>
          <a:p>
            <a:pPr algn="l">
              <a:lnSpc>
                <a:spcPts val="3499"/>
              </a:lnSpc>
              <a:defRPr/>
            </a:pPr>
            <a:endParaRPr lang="en-US" sz="25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Variável Alvo: </a:t>
            </a:r>
            <a:r>
              <a:rPr lang="en-US" sz="2500" b="1" i="1">
                <a:solidFill>
                  <a:srgbClr val="004AAD"/>
                </a:solidFill>
                <a:latin typeface="Open Sans Bold Italics"/>
                <a:ea typeface="Open Sans Bold Italics"/>
                <a:cs typeface="Open Sans Bold Italics"/>
              </a:rPr>
              <a:t>Churn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(indicador principal que aponta se o cliente cancelou ou não o serviço).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390569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644890809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961961523" name="Freeform 4"/>
          <p:cNvSpPr/>
          <p:nvPr/>
        </p:nvSpPr>
        <p:spPr bwMode="auto">
          <a:xfrm rot="0" flipH="0" flipV="0">
            <a:off x="2661082" y="1674405"/>
            <a:ext cx="9908312" cy="3772028"/>
          </a:xfrm>
          <a:custGeom>
            <a:avLst/>
            <a:gdLst/>
            <a:ahLst/>
            <a:cxnLst/>
            <a:rect l="l" t="t" r="r" b="b"/>
            <a:pathLst>
              <a:path w="9908312" h="3772028" fill="norm" stroke="1" extrusionOk="0">
                <a:moveTo>
                  <a:pt x="0" y="0"/>
                </a:moveTo>
                <a:lnTo>
                  <a:pt x="9908311" y="0"/>
                </a:lnTo>
                <a:lnTo>
                  <a:pt x="9908311" y="3772029"/>
                </a:lnTo>
                <a:lnTo>
                  <a:pt x="0" y="3772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-845" t="0" r="0" b="0"/>
            </a:stretch>
          </a:blipFill>
        </p:spPr>
      </p:sp>
      <p:sp>
        <p:nvSpPr>
          <p:cNvPr id="1476433135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2064135184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38572968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6</a:t>
            </a:r>
            <a:endParaRPr/>
          </a:p>
        </p:txBody>
      </p:sp>
      <p:sp>
        <p:nvSpPr>
          <p:cNvPr id="526697516" name="TextBox 8"/>
          <p:cNvSpPr txBox="1"/>
          <p:nvPr/>
        </p:nvSpPr>
        <p:spPr bwMode="auto">
          <a:xfrm rot="0">
            <a:off x="857250" y="230766"/>
            <a:ext cx="523793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defRPr/>
            </a:pP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Estatí</a:t>
            </a: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sticas Descritivas</a:t>
            </a:r>
            <a:endParaRPr/>
          </a:p>
        </p:txBody>
      </p:sp>
      <p:sp>
        <p:nvSpPr>
          <p:cNvPr id="942314826" name="TextBox 9"/>
          <p:cNvSpPr txBox="1"/>
          <p:nvPr/>
        </p:nvSpPr>
        <p:spPr bwMode="auto">
          <a:xfrm rot="0">
            <a:off x="857250" y="981700"/>
            <a:ext cx="1259150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defRPr/>
            </a:pPr>
            <a:r>
              <a:rPr lang="en-US" sz="22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Uma de</a:t>
            </a:r>
            <a:r>
              <a:rPr lang="en-US" sz="22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scrição estatística básica das variáveis numéricas do conjunto de dados:</a:t>
            </a:r>
            <a:endParaRPr/>
          </a:p>
        </p:txBody>
      </p:sp>
      <p:sp>
        <p:nvSpPr>
          <p:cNvPr id="1870352422" name="TextBox 10"/>
          <p:cNvSpPr txBox="1"/>
          <p:nvPr/>
        </p:nvSpPr>
        <p:spPr bwMode="auto">
          <a:xfrm rot="0">
            <a:off x="7615238" y="78105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1540162" name="TextBox 11"/>
          <p:cNvSpPr txBox="1"/>
          <p:nvPr/>
        </p:nvSpPr>
        <p:spPr bwMode="auto">
          <a:xfrm rot="0">
            <a:off x="857250" y="5665509"/>
            <a:ext cx="12909821" cy="281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defRPr/>
            </a:pP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Demografia: A variável  </a:t>
            </a:r>
            <a:r>
              <a:rPr lang="en-US" sz="18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SeniorCitizen</a:t>
            </a: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(binária) apresenta média de 0.11, indicando que a nossa base é predominantemente jovem/adulta, com idosos representando apenas 11,4% dos clientes.</a:t>
            </a:r>
            <a:endParaRPr/>
          </a:p>
          <a:p>
            <a:pPr algn="l">
              <a:lnSpc>
                <a:spcPts val="2519"/>
              </a:lnSpc>
              <a:defRPr/>
            </a:pPr>
            <a:endParaRPr lang="en-US" sz="18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2519"/>
              </a:lnSpc>
              <a:defRPr/>
            </a:pP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Retenção (</a:t>
            </a:r>
            <a:r>
              <a:rPr lang="en-US" sz="18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Tenure</a:t>
            </a: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): Apresenta grande dispersão (desvio padrão de 25 meses para um máximo de 72). A mediana de 35 meses e a média de 36 meses sugerem uma distribuição razoavelmente equilibrada entre clientes novos e antigos.</a:t>
            </a:r>
            <a:endParaRPr/>
          </a:p>
          <a:p>
            <a:pPr algn="l">
              <a:lnSpc>
                <a:spcPts val="2519"/>
              </a:lnSpc>
              <a:defRPr/>
            </a:pPr>
            <a:endParaRPr lang="en-US" sz="18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2519"/>
              </a:lnSpc>
              <a:defRPr/>
            </a:pP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Comportamento Financeiro: </a:t>
            </a:r>
            <a:r>
              <a:rPr lang="en-US" sz="18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MonthlyCharges </a:t>
            </a: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m</a:t>
            </a: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ostra variação considerável, refletindo a diversidade de pacotes (de básicos a premium).</a:t>
            </a:r>
            <a:endParaRPr/>
          </a:p>
          <a:p>
            <a:pPr algn="ctr">
              <a:lnSpc>
                <a:spcPts val="2519"/>
              </a:lnSpc>
              <a:defRPr/>
            </a:pPr>
            <a:r>
              <a:rPr lang="en-US" sz="18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376750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703470763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2094039080" name="Freeform 4"/>
          <p:cNvSpPr/>
          <p:nvPr/>
        </p:nvSpPr>
        <p:spPr bwMode="auto">
          <a:xfrm rot="0" flipH="0" flipV="0">
            <a:off x="3630436" y="2706931"/>
            <a:ext cx="7988653" cy="3025289"/>
          </a:xfrm>
          <a:custGeom>
            <a:avLst/>
            <a:gdLst/>
            <a:ahLst/>
            <a:cxnLst/>
            <a:rect l="l" t="t" r="r" b="b"/>
            <a:pathLst>
              <a:path w="7988653" h="3025289" fill="norm" stroke="1" extrusionOk="0">
                <a:moveTo>
                  <a:pt x="0" y="0"/>
                </a:moveTo>
                <a:lnTo>
                  <a:pt x="7988653" y="0"/>
                </a:lnTo>
                <a:lnTo>
                  <a:pt x="7988653" y="3025288"/>
                </a:lnTo>
                <a:lnTo>
                  <a:pt x="0" y="3025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2057705750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2041269337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1694372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7</a:t>
            </a:r>
            <a:endParaRPr/>
          </a:p>
        </p:txBody>
      </p:sp>
      <p:sp>
        <p:nvSpPr>
          <p:cNvPr id="1671090445" name="TextBox 8"/>
          <p:cNvSpPr txBox="1"/>
          <p:nvPr/>
        </p:nvSpPr>
        <p:spPr bwMode="auto">
          <a:xfrm rot="0">
            <a:off x="857250" y="359988"/>
            <a:ext cx="5498455" cy="86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A</a:t>
            </a: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nálise Bivariada</a:t>
            </a:r>
            <a:endParaRPr/>
          </a:p>
        </p:txBody>
      </p:sp>
      <p:sp>
        <p:nvSpPr>
          <p:cNvPr id="304719431" name="TextBox 9"/>
          <p:cNvSpPr txBox="1"/>
          <p:nvPr/>
        </p:nvSpPr>
        <p:spPr bwMode="auto">
          <a:xfrm rot="0">
            <a:off x="857250" y="1472920"/>
            <a:ext cx="315649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Gê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nero vs Churn</a:t>
            </a:r>
            <a:endParaRPr/>
          </a:p>
        </p:txBody>
      </p:sp>
      <p:sp>
        <p:nvSpPr>
          <p:cNvPr id="610570979" name="TextBox 10"/>
          <p:cNvSpPr txBox="1"/>
          <p:nvPr/>
        </p:nvSpPr>
        <p:spPr bwMode="auto">
          <a:xfrm rot="0">
            <a:off x="7615238" y="288798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65165588" name="TextBox 11"/>
          <p:cNvSpPr txBox="1"/>
          <p:nvPr/>
        </p:nvSpPr>
        <p:spPr bwMode="auto">
          <a:xfrm rot="0">
            <a:off x="857250" y="6277905"/>
            <a:ext cx="124083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te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ste estatístico revelou uma associação de apenas 0,0068 entre gênero e evasão.</a:t>
            </a:r>
            <a:endParaRPr/>
          </a:p>
          <a:p>
            <a:pPr algn="just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gênero do cliente não influencia a propensão ao Churn.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577879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746436157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1130653322" name="Freeform 4"/>
          <p:cNvSpPr/>
          <p:nvPr/>
        </p:nvSpPr>
        <p:spPr bwMode="auto">
          <a:xfrm rot="0" flipH="0" flipV="0">
            <a:off x="304216" y="1949121"/>
            <a:ext cx="6755776" cy="4030240"/>
          </a:xfrm>
          <a:custGeom>
            <a:avLst/>
            <a:gdLst/>
            <a:ahLst/>
            <a:cxnLst/>
            <a:rect l="l" t="t" r="r" b="b"/>
            <a:pathLst>
              <a:path w="6755776" h="4030240" fill="norm" stroke="1" extrusionOk="0">
                <a:moveTo>
                  <a:pt x="0" y="0"/>
                </a:moveTo>
                <a:lnTo>
                  <a:pt x="6755776" y="0"/>
                </a:lnTo>
                <a:lnTo>
                  <a:pt x="6755776" y="4030240"/>
                </a:lnTo>
                <a:lnTo>
                  <a:pt x="0" y="403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888612797" name="Freeform 5"/>
          <p:cNvSpPr/>
          <p:nvPr/>
        </p:nvSpPr>
        <p:spPr bwMode="auto">
          <a:xfrm rot="0" flipH="0" flipV="0">
            <a:off x="8011359" y="1939596"/>
            <a:ext cx="6856288" cy="4090202"/>
          </a:xfrm>
          <a:custGeom>
            <a:avLst/>
            <a:gdLst/>
            <a:ahLst/>
            <a:cxnLst/>
            <a:rect l="l" t="t" r="r" b="b"/>
            <a:pathLst>
              <a:path w="6856288" h="4090202" fill="norm" stroke="1" extrusionOk="0">
                <a:moveTo>
                  <a:pt x="0" y="0"/>
                </a:moveTo>
                <a:lnTo>
                  <a:pt x="6856288" y="0"/>
                </a:lnTo>
                <a:lnTo>
                  <a:pt x="6856288" y="4090202"/>
                </a:lnTo>
                <a:lnTo>
                  <a:pt x="0" y="4090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268494707" name="TextBox 6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807978138" name="TextBox 7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98223025" name="TextBox 8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8</a:t>
            </a:r>
            <a:endParaRPr/>
          </a:p>
        </p:txBody>
      </p:sp>
      <p:sp>
        <p:nvSpPr>
          <p:cNvPr id="1398884708" name="TextBox 9"/>
          <p:cNvSpPr txBox="1"/>
          <p:nvPr/>
        </p:nvSpPr>
        <p:spPr bwMode="auto">
          <a:xfrm rot="0">
            <a:off x="993659" y="105671"/>
            <a:ext cx="439861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nálise Bivariada</a:t>
            </a:r>
            <a:endParaRPr/>
          </a:p>
        </p:txBody>
      </p:sp>
      <p:sp>
        <p:nvSpPr>
          <p:cNvPr id="74180118" name="TextBox 10"/>
          <p:cNvSpPr txBox="1"/>
          <p:nvPr/>
        </p:nvSpPr>
        <p:spPr bwMode="auto">
          <a:xfrm rot="0">
            <a:off x="7615238" y="391668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79906259" name="TextBox 11"/>
          <p:cNvSpPr txBox="1"/>
          <p:nvPr/>
        </p:nvSpPr>
        <p:spPr bwMode="auto">
          <a:xfrm rot="0">
            <a:off x="1254400" y="1080396"/>
            <a:ext cx="40356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Pagame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nto vs Churn </a:t>
            </a:r>
            <a:endParaRPr/>
          </a:p>
        </p:txBody>
      </p:sp>
      <p:sp>
        <p:nvSpPr>
          <p:cNvPr id="1819438597" name="TextBox 12"/>
          <p:cNvSpPr txBox="1"/>
          <p:nvPr/>
        </p:nvSpPr>
        <p:spPr bwMode="auto">
          <a:xfrm rot="0">
            <a:off x="993659" y="2560719"/>
            <a:ext cx="4035698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851783850" name="TextBox 13"/>
          <p:cNvSpPr txBox="1"/>
          <p:nvPr/>
        </p:nvSpPr>
        <p:spPr bwMode="auto">
          <a:xfrm rot="0">
            <a:off x="9497854" y="1108971"/>
            <a:ext cx="40356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 Co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ntrato vs Churn</a:t>
            </a:r>
            <a:endParaRPr/>
          </a:p>
        </p:txBody>
      </p:sp>
      <p:sp>
        <p:nvSpPr>
          <p:cNvPr id="2100317646" name="TextBox 14"/>
          <p:cNvSpPr txBox="1"/>
          <p:nvPr/>
        </p:nvSpPr>
        <p:spPr bwMode="auto">
          <a:xfrm rot="0">
            <a:off x="535545" y="6198436"/>
            <a:ext cx="6355705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método d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e pagamento com maior percentual de churn é o Cheque Eletrônico, tendo quase 50% das operações consolidadas em "Yes".</a:t>
            </a:r>
            <a:endParaRPr/>
          </a:p>
        </p:txBody>
      </p:sp>
      <p:sp>
        <p:nvSpPr>
          <p:cNvPr id="1884033284" name="TextBox 15"/>
          <p:cNvSpPr txBox="1"/>
          <p:nvPr/>
        </p:nvSpPr>
        <p:spPr bwMode="auto">
          <a:xfrm rot="0">
            <a:off x="7933697" y="6188911"/>
            <a:ext cx="7011612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  <a:defRPr/>
            </a:pPr>
            <a:r>
              <a:rPr lang="en-US" sz="23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Há uma a</a:t>
            </a:r>
            <a:r>
              <a:rPr lang="en-US" sz="23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ssociação entre o tipo de contrato e churn, a modalidade month-to-month é a que detem a maior quantidade de churn. Com um percentual um pouco maior que 40%.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057923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278045421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1139154660" name="Freeform 4"/>
          <p:cNvSpPr/>
          <p:nvPr/>
        </p:nvSpPr>
        <p:spPr bwMode="auto">
          <a:xfrm rot="0" flipH="0" flipV="0">
            <a:off x="3628087" y="1998720"/>
            <a:ext cx="7993351" cy="4394006"/>
          </a:xfrm>
          <a:custGeom>
            <a:avLst/>
            <a:gdLst/>
            <a:ahLst/>
            <a:cxnLst/>
            <a:rect l="l" t="t" r="r" b="b"/>
            <a:pathLst>
              <a:path w="7993352" h="4394006" fill="norm" stroke="1" extrusionOk="0">
                <a:moveTo>
                  <a:pt x="0" y="0"/>
                </a:moveTo>
                <a:lnTo>
                  <a:pt x="7993351" y="0"/>
                </a:lnTo>
                <a:lnTo>
                  <a:pt x="7993351" y="4394006"/>
                </a:lnTo>
                <a:lnTo>
                  <a:pt x="0" y="4394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734880128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716833248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93482167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9</a:t>
            </a:r>
            <a:endParaRPr/>
          </a:p>
        </p:txBody>
      </p:sp>
      <p:sp>
        <p:nvSpPr>
          <p:cNvPr id="137502411" name="TextBox 8"/>
          <p:cNvSpPr txBox="1"/>
          <p:nvPr/>
        </p:nvSpPr>
        <p:spPr bwMode="auto">
          <a:xfrm rot="0">
            <a:off x="857250" y="232631"/>
            <a:ext cx="439861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nálise Bivariada</a:t>
            </a:r>
            <a:endParaRPr/>
          </a:p>
        </p:txBody>
      </p:sp>
      <p:sp>
        <p:nvSpPr>
          <p:cNvPr id="723778679" name="TextBox 9"/>
          <p:cNvSpPr txBox="1"/>
          <p:nvPr/>
        </p:nvSpPr>
        <p:spPr bwMode="auto">
          <a:xfrm rot="0">
            <a:off x="7615238" y="391668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042033207" name="TextBox 10"/>
          <p:cNvSpPr txBox="1"/>
          <p:nvPr/>
        </p:nvSpPr>
        <p:spPr bwMode="auto">
          <a:xfrm rot="0">
            <a:off x="857250" y="1145167"/>
            <a:ext cx="543096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T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empo de Contrato vs Churn</a:t>
            </a:r>
            <a:endParaRPr/>
          </a:p>
        </p:txBody>
      </p:sp>
      <p:sp>
        <p:nvSpPr>
          <p:cNvPr id="1754179085" name="TextBox 11"/>
          <p:cNvSpPr txBox="1"/>
          <p:nvPr/>
        </p:nvSpPr>
        <p:spPr bwMode="auto">
          <a:xfrm rot="0">
            <a:off x="857250" y="1968354"/>
            <a:ext cx="5430962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09599997" name="TextBox 12"/>
          <p:cNvSpPr txBox="1"/>
          <p:nvPr/>
        </p:nvSpPr>
        <p:spPr bwMode="auto">
          <a:xfrm rot="0">
            <a:off x="1448939" y="6693830"/>
            <a:ext cx="1293381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risco de perda de clie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ntes é crítico no início. Se o cliente ultrapassar essa barreira inicial, a probabilidade de ele se tornar um cliente fiel a longo prazo é muito alta.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450460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318980389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882293974" name="Freeform 4"/>
          <p:cNvSpPr/>
          <p:nvPr/>
        </p:nvSpPr>
        <p:spPr bwMode="auto">
          <a:xfrm rot="0" flipH="0" flipV="0">
            <a:off x="211818" y="1741534"/>
            <a:ext cx="6794824" cy="4194764"/>
          </a:xfrm>
          <a:custGeom>
            <a:avLst/>
            <a:gdLst/>
            <a:ahLst/>
            <a:cxnLst/>
            <a:rect l="l" t="t" r="r" b="b"/>
            <a:pathLst>
              <a:path w="6794824" h="4194764" fill="norm" stroke="1" extrusionOk="0">
                <a:moveTo>
                  <a:pt x="0" y="0"/>
                </a:moveTo>
                <a:lnTo>
                  <a:pt x="6794824" y="0"/>
                </a:lnTo>
                <a:lnTo>
                  <a:pt x="6794824" y="4194763"/>
                </a:lnTo>
                <a:lnTo>
                  <a:pt x="0" y="419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608224947" name="Freeform 5"/>
          <p:cNvSpPr/>
          <p:nvPr/>
        </p:nvSpPr>
        <p:spPr bwMode="auto">
          <a:xfrm rot="0" flipH="0" flipV="0">
            <a:off x="7960060" y="1741534"/>
            <a:ext cx="7067890" cy="4194764"/>
          </a:xfrm>
          <a:custGeom>
            <a:avLst/>
            <a:gdLst/>
            <a:ahLst/>
            <a:cxnLst/>
            <a:rect l="l" t="t" r="r" b="b"/>
            <a:pathLst>
              <a:path w="7067890" h="4194764" fill="norm" stroke="1" extrusionOk="0">
                <a:moveTo>
                  <a:pt x="0" y="0"/>
                </a:moveTo>
                <a:lnTo>
                  <a:pt x="7067890" y="0"/>
                </a:lnTo>
                <a:lnTo>
                  <a:pt x="7067890" y="4194763"/>
                </a:lnTo>
                <a:lnTo>
                  <a:pt x="0" y="41947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637976704" name="TextBox 6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2088835335" name="TextBox 7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62169413" name="TextBox 8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10</a:t>
            </a:r>
            <a:endParaRPr/>
          </a:p>
        </p:txBody>
      </p:sp>
      <p:sp>
        <p:nvSpPr>
          <p:cNvPr id="355622789" name="TextBox 9"/>
          <p:cNvSpPr txBox="1"/>
          <p:nvPr/>
        </p:nvSpPr>
        <p:spPr bwMode="auto">
          <a:xfrm rot="0">
            <a:off x="860002" y="-50124"/>
            <a:ext cx="439861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nálise Bivariada</a:t>
            </a:r>
            <a:endParaRPr/>
          </a:p>
        </p:txBody>
      </p:sp>
      <p:sp>
        <p:nvSpPr>
          <p:cNvPr id="1948418470" name="TextBox 10"/>
          <p:cNvSpPr txBox="1"/>
          <p:nvPr/>
        </p:nvSpPr>
        <p:spPr bwMode="auto">
          <a:xfrm rot="0">
            <a:off x="1199144" y="912859"/>
            <a:ext cx="482017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Tipo de i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nternet vs Churn</a:t>
            </a:r>
            <a:endParaRPr/>
          </a:p>
        </p:txBody>
      </p:sp>
      <p:sp>
        <p:nvSpPr>
          <p:cNvPr id="1198963072" name="TextBox 11"/>
          <p:cNvSpPr txBox="1"/>
          <p:nvPr/>
        </p:nvSpPr>
        <p:spPr bwMode="auto">
          <a:xfrm rot="0">
            <a:off x="8820886" y="995030"/>
            <a:ext cx="585512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erviços Adicionais no Churn</a:t>
            </a:r>
            <a:endParaRPr/>
          </a:p>
        </p:txBody>
      </p:sp>
      <p:sp>
        <p:nvSpPr>
          <p:cNvPr id="1106821277" name="TextBox 12"/>
          <p:cNvSpPr txBox="1"/>
          <p:nvPr/>
        </p:nvSpPr>
        <p:spPr bwMode="auto">
          <a:xfrm rot="0">
            <a:off x="202525" y="6212522"/>
            <a:ext cx="680411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De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ntre os serviços ofertados pela empresa, o de fibra óptica é o que contém a maior parcela de evasão. Apresentou uma associação de 0,4259.</a:t>
            </a:r>
            <a:endParaRPr/>
          </a:p>
        </p:txBody>
      </p:sp>
      <p:sp>
        <p:nvSpPr>
          <p:cNvPr id="640111067" name="TextBox 13"/>
          <p:cNvSpPr txBox="1"/>
          <p:nvPr/>
        </p:nvSpPr>
        <p:spPr bwMode="auto">
          <a:xfrm rot="0">
            <a:off x="9008305" y="6212522"/>
            <a:ext cx="4829398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Qua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nto maior a quantidade de serviços associadas ao cliente, menor a taxa de Churn.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50885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580932628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929954183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609936329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841668533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11</a:t>
            </a:r>
            <a:endParaRPr/>
          </a:p>
        </p:txBody>
      </p:sp>
      <p:sp>
        <p:nvSpPr>
          <p:cNvPr id="1753940746" name="TextBox 7"/>
          <p:cNvSpPr txBox="1"/>
          <p:nvPr/>
        </p:nvSpPr>
        <p:spPr bwMode="auto">
          <a:xfrm rot="0">
            <a:off x="857250" y="273946"/>
            <a:ext cx="5687317" cy="86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P</a:t>
            </a:r>
            <a:r>
              <a:rPr lang="en-US" sz="5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erfil dos Clientes</a:t>
            </a:r>
            <a:endParaRPr/>
          </a:p>
        </p:txBody>
      </p:sp>
      <p:sp>
        <p:nvSpPr>
          <p:cNvPr id="833342260" name="TextBox 8"/>
          <p:cNvSpPr txBox="1"/>
          <p:nvPr/>
        </p:nvSpPr>
        <p:spPr bwMode="auto">
          <a:xfrm rot="0">
            <a:off x="649152" y="2427206"/>
            <a:ext cx="6354984" cy="590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  <a:defRPr/>
            </a:pPr>
            <a:r>
              <a:rPr lang="en-US" sz="24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Perfil Propenso ao Churn </a:t>
            </a:r>
            <a:endParaRPr/>
          </a:p>
          <a:p>
            <a:pPr marL="518160" lvl="1" indent="-259080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Contrato: predominantemente mensal (</a:t>
            </a:r>
            <a:r>
              <a:rPr lang="en-US" sz="24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month-to-month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).</a:t>
            </a:r>
            <a:endParaRPr/>
          </a:p>
          <a:p>
            <a:pPr marL="518160" lvl="1" indent="-259080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Tempo de Casa: menor tempo de permanência (</a:t>
            </a:r>
            <a:r>
              <a:rPr lang="en-US" sz="24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tenure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baixo).</a:t>
            </a:r>
            <a:endParaRPr/>
          </a:p>
          <a:p>
            <a:pPr marL="518160" lvl="1" indent="-259080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Tecnologia: assinantes de Fibra Óptica (serviço com maior índice de evasão).</a:t>
            </a:r>
            <a:endParaRPr/>
          </a:p>
          <a:p>
            <a:pPr marL="518160" lvl="1" indent="-259080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O "Pico de Risco": possuem apenas 1 serviço adicional contratado (taxa crítica de 42,2% de cancelamento).</a:t>
            </a:r>
            <a:endParaRPr/>
          </a:p>
          <a:p>
            <a:pPr marL="518160" lvl="1" indent="-259080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Financeiro: maior incidência entre os que utilizam cheque eletrônico.</a:t>
            </a:r>
            <a:endParaRPr/>
          </a:p>
        </p:txBody>
      </p:sp>
      <p:sp>
        <p:nvSpPr>
          <p:cNvPr id="2109999954" name="TextBox 9"/>
          <p:cNvSpPr txBox="1"/>
          <p:nvPr/>
        </p:nvSpPr>
        <p:spPr bwMode="auto">
          <a:xfrm rot="0">
            <a:off x="857250" y="1227498"/>
            <a:ext cx="13931656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A partir da a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nálise descritiva, conseguimos mapear os dois extremos comportamentais da nossa base de clientes:</a:t>
            </a:r>
            <a:endParaRPr/>
          </a:p>
        </p:txBody>
      </p:sp>
      <p:sp>
        <p:nvSpPr>
          <p:cNvPr id="1475024772" name="TextBox 10"/>
          <p:cNvSpPr txBox="1"/>
          <p:nvPr/>
        </p:nvSpPr>
        <p:spPr bwMode="auto">
          <a:xfrm rot="0">
            <a:off x="8352119" y="2417681"/>
            <a:ext cx="5417663" cy="553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2"/>
              </a:lnSpc>
              <a:defRPr/>
            </a:pPr>
            <a:r>
              <a:rPr lang="en-US" sz="24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Perfil Prope</a:t>
            </a:r>
            <a:r>
              <a:rPr lang="en-US" sz="24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nso à Retenção</a:t>
            </a:r>
            <a:endParaRPr/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Contrato: compromissos de longo prazo (anual ou bienal).</a:t>
            </a:r>
            <a:endParaRPr/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Tempo de Casa: clientes maduros com maior tempo de permanência.</a:t>
            </a:r>
            <a:endParaRPr/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O "Efeito Ecossistema": possuem combos de 2 a 6 serviços adicionais, o que blinda o cliente e derruba a taxa de evasão para até 1,9%.</a:t>
            </a:r>
            <a:endParaRPr/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Comportamento: maior fidelidade e estabilidade na base.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973942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771250689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831882947" name="Freeform 4"/>
          <p:cNvSpPr/>
          <p:nvPr/>
        </p:nvSpPr>
        <p:spPr bwMode="auto">
          <a:xfrm rot="0" flipH="0" flipV="0">
            <a:off x="4077523" y="857250"/>
            <a:ext cx="7075428" cy="6175299"/>
          </a:xfrm>
          <a:custGeom>
            <a:avLst/>
            <a:gdLst/>
            <a:ahLst/>
            <a:cxnLst/>
            <a:rect l="l" t="t" r="r" b="b"/>
            <a:pathLst>
              <a:path w="7075428" h="6175300" fill="norm" stroke="1" extrusionOk="0">
                <a:moveTo>
                  <a:pt x="0" y="0"/>
                </a:moveTo>
                <a:lnTo>
                  <a:pt x="7075429" y="0"/>
                </a:lnTo>
                <a:lnTo>
                  <a:pt x="7075429" y="6175300"/>
                </a:lnTo>
                <a:lnTo>
                  <a:pt x="0" y="6175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201885072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590288156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57218083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12</a:t>
            </a:r>
            <a:endParaRPr/>
          </a:p>
        </p:txBody>
      </p:sp>
      <p:sp>
        <p:nvSpPr>
          <p:cNvPr id="641356141" name="TextBox 8"/>
          <p:cNvSpPr txBox="1"/>
          <p:nvPr/>
        </p:nvSpPr>
        <p:spPr bwMode="auto">
          <a:xfrm rot="0">
            <a:off x="857250" y="-76200"/>
            <a:ext cx="540119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Mat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riz de Correlação </a:t>
            </a:r>
            <a:endParaRPr/>
          </a:p>
        </p:txBody>
      </p:sp>
      <p:sp>
        <p:nvSpPr>
          <p:cNvPr id="1956935008" name="TextBox 9"/>
          <p:cNvSpPr txBox="1"/>
          <p:nvPr/>
        </p:nvSpPr>
        <p:spPr bwMode="auto">
          <a:xfrm rot="0">
            <a:off x="600352" y="7194475"/>
            <a:ext cx="13927654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Como podemos ver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, o tempo de casa (</a:t>
            </a:r>
            <a:r>
              <a:rPr lang="en-US" sz="24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Tenure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: -0.42) protege a empresa. Por outro lado, faturas mais altas e cobranças digitais (</a:t>
            </a:r>
            <a:r>
              <a:rPr lang="en-US" sz="24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PaperlessBilling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0.29 e </a:t>
            </a:r>
            <a:r>
              <a:rPr lang="en-US" sz="2400" i="1">
                <a:solidFill>
                  <a:srgbClr val="004AAD"/>
                </a:solidFill>
                <a:latin typeface="Open Sans Italics"/>
                <a:ea typeface="Open Sans Italics"/>
                <a:cs typeface="Open Sans Italics"/>
              </a:rPr>
              <a:t>MonthlyCharges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0.27) acendem um alerta para o risco de cancelamento.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529950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832690845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1666593184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772232818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5406481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13</a:t>
            </a:r>
            <a:endParaRPr/>
          </a:p>
        </p:txBody>
      </p:sp>
      <p:sp>
        <p:nvSpPr>
          <p:cNvPr id="2048798351" name="TextBox 7"/>
          <p:cNvSpPr txBox="1"/>
          <p:nvPr/>
        </p:nvSpPr>
        <p:spPr bwMode="auto">
          <a:xfrm rot="0">
            <a:off x="884188" y="207210"/>
            <a:ext cx="404440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Mod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elagem Preditiva</a:t>
            </a:r>
            <a:endParaRPr/>
          </a:p>
        </p:txBody>
      </p:sp>
      <p:sp>
        <p:nvSpPr>
          <p:cNvPr id="1111766088" name="TextBox 8"/>
          <p:cNvSpPr txBox="1"/>
          <p:nvPr/>
        </p:nvSpPr>
        <p:spPr bwMode="auto">
          <a:xfrm rot="0">
            <a:off x="857250" y="1178760"/>
            <a:ext cx="1269646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A fase de modelagem é o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nde vamos buscar algoritmos clássicos de classificação que captem e expliquem bem a variabilidade dos dados e prevejam a evasão do cliente.</a:t>
            </a:r>
            <a:endParaRPr/>
          </a:p>
        </p:txBody>
      </p:sp>
      <p:sp>
        <p:nvSpPr>
          <p:cNvPr id="1539041465" name="TextBox 9"/>
          <p:cNvSpPr txBox="1"/>
          <p:nvPr/>
        </p:nvSpPr>
        <p:spPr bwMode="auto">
          <a:xfrm rot="0">
            <a:off x="857250" y="2458990"/>
            <a:ext cx="12696465" cy="288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4"/>
              </a:lnSpc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Dividimos os </a:t>
            </a: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nossos dados:</a:t>
            </a:r>
            <a:endParaRPr/>
          </a:p>
          <a:p>
            <a:pPr algn="l">
              <a:lnSpc>
                <a:spcPts val="3874"/>
              </a:lnSpc>
              <a:defRPr/>
            </a:pPr>
            <a:endParaRPr lang="en-US" sz="250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marL="539749" lvl="1" indent="-269875" algn="l">
              <a:lnSpc>
                <a:spcPts val="38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Treino (80%):O maior percentual da base original, utilizado para ensinar os padrões comportamentais ao algoritmo.</a:t>
            </a:r>
            <a:endParaRPr/>
          </a:p>
          <a:p>
            <a:pPr marL="539749" lvl="1" indent="-269875" algn="l">
              <a:lnSpc>
                <a:spcPts val="3874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Teste (20%): A parcela restante separada exclusivamente para análise e validação da predição dos modelos em um cenário "desconhecido".</a:t>
            </a:r>
            <a:endParaRPr/>
          </a:p>
        </p:txBody>
      </p:sp>
      <p:sp>
        <p:nvSpPr>
          <p:cNvPr id="493484686" name="TextBox 10"/>
          <p:cNvSpPr txBox="1"/>
          <p:nvPr/>
        </p:nvSpPr>
        <p:spPr bwMode="auto">
          <a:xfrm rot="0">
            <a:off x="931813" y="5839010"/>
            <a:ext cx="67405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Mod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elos Aplicados</a:t>
            </a:r>
            <a:endParaRPr/>
          </a:p>
        </p:txBody>
      </p:sp>
      <p:sp>
        <p:nvSpPr>
          <p:cNvPr id="1229912637" name="TextBox 11"/>
          <p:cNvSpPr txBox="1"/>
          <p:nvPr/>
        </p:nvSpPr>
        <p:spPr bwMode="auto">
          <a:xfrm rot="0">
            <a:off x="884188" y="6767465"/>
            <a:ext cx="10318477" cy="100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512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Logi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stic Regression (Modelo paramétrico logístico)</a:t>
            </a:r>
            <a:endParaRPr/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Random Forest (Modelo baseado em árvores de decisão e ensemble)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656940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785023233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461342132" name="Freeform 4"/>
          <p:cNvSpPr/>
          <p:nvPr/>
        </p:nvSpPr>
        <p:spPr bwMode="auto">
          <a:xfrm rot="0" flipH="0" flipV="0">
            <a:off x="7615238" y="1368666"/>
            <a:ext cx="6089529" cy="4704135"/>
          </a:xfrm>
          <a:custGeom>
            <a:avLst/>
            <a:gdLst/>
            <a:ahLst/>
            <a:cxnLst/>
            <a:rect l="l" t="t" r="r" b="b"/>
            <a:pathLst>
              <a:path w="6089529" h="4704135" fill="norm" stroke="1" extrusionOk="0">
                <a:moveTo>
                  <a:pt x="0" y="0"/>
                </a:moveTo>
                <a:lnTo>
                  <a:pt x="6089528" y="0"/>
                </a:lnTo>
                <a:lnTo>
                  <a:pt x="6089528" y="4704135"/>
                </a:lnTo>
                <a:lnTo>
                  <a:pt x="0" y="470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283545578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926353779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966316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14</a:t>
            </a:r>
            <a:endParaRPr/>
          </a:p>
        </p:txBody>
      </p:sp>
      <p:sp>
        <p:nvSpPr>
          <p:cNvPr id="1224554960" name="TextBox 8"/>
          <p:cNvSpPr txBox="1"/>
          <p:nvPr/>
        </p:nvSpPr>
        <p:spPr bwMode="auto">
          <a:xfrm rot="0">
            <a:off x="447563" y="177800"/>
            <a:ext cx="1147554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De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sempenho do Modelo: Regressão Logística </a:t>
            </a:r>
            <a:endParaRPr/>
          </a:p>
        </p:txBody>
      </p:sp>
      <p:sp>
        <p:nvSpPr>
          <p:cNvPr id="441135216" name="TextBox 9"/>
          <p:cNvSpPr txBox="1"/>
          <p:nvPr/>
        </p:nvSpPr>
        <p:spPr bwMode="auto">
          <a:xfrm rot="0">
            <a:off x="1170080" y="1311516"/>
            <a:ext cx="56568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Métrica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 Globais de Avaliação</a:t>
            </a:r>
            <a:endParaRPr/>
          </a:p>
        </p:txBody>
      </p:sp>
      <p:sp>
        <p:nvSpPr>
          <p:cNvPr id="392621300" name="TextBox 10"/>
          <p:cNvSpPr txBox="1"/>
          <p:nvPr/>
        </p:nvSpPr>
        <p:spPr bwMode="auto">
          <a:xfrm rot="0">
            <a:off x="1170080" y="2121141"/>
            <a:ext cx="5656808" cy="361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  <a:defRPr/>
            </a:pPr>
            <a:r>
              <a:rPr lang="en-US" sz="23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Acurácia Global: 85.48% de previsões corretas na base de teste.</a:t>
            </a:r>
            <a:endParaRPr/>
          </a:p>
          <a:p>
            <a:pPr marL="496571" lvl="1" indent="-248285" algn="l">
              <a:lnSpc>
                <a:spcPts val="3772"/>
              </a:lnSpc>
              <a:buFont typeface="Arial"/>
              <a:buChar char="•"/>
              <a:defRPr/>
            </a:pPr>
            <a:r>
              <a:rPr lang="en-US" sz="23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Log Loss (0.31): Um erro logarítmico baixo. Isso indica que o modelo possui alta confiança e precisão nas probabilidades calculadas, não apenas "chutando" os resultados.</a:t>
            </a:r>
            <a:endParaRPr/>
          </a:p>
        </p:txBody>
      </p:sp>
      <p:sp>
        <p:nvSpPr>
          <p:cNvPr id="62266085" name="TextBox 11"/>
          <p:cNvSpPr txBox="1"/>
          <p:nvPr/>
        </p:nvSpPr>
        <p:spPr bwMode="auto">
          <a:xfrm rot="0">
            <a:off x="447563" y="6334310"/>
            <a:ext cx="13257203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Falsos Positivos: Clientes leais classificados como evasão. O modelo demonstra uma leve inclinação conservadora, preferindo errar por cautela.</a:t>
            </a:r>
            <a:endParaRPr/>
          </a:p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endParaRPr lang="en-US" sz="2100">
              <a:solidFill>
                <a:srgbClr val="004AAD"/>
              </a:solidFill>
              <a:latin typeface="Montserrat"/>
              <a:ea typeface="Montserrat"/>
              <a:cs typeface="Montserrat"/>
            </a:endParaRP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Falsos Negativos: O volume de "cancelamentos" foi drasticamente reduzido com o tratamento adequado das variáveis. A empresa agora possui um radar antecipado altamente eficaz.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793279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216090131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651619923" name="Freeform 4"/>
          <p:cNvSpPr/>
          <p:nvPr/>
        </p:nvSpPr>
        <p:spPr bwMode="auto">
          <a:xfrm rot="0" flipH="0" flipV="0">
            <a:off x="7615238" y="1318521"/>
            <a:ext cx="6089529" cy="4704135"/>
          </a:xfrm>
          <a:custGeom>
            <a:avLst/>
            <a:gdLst/>
            <a:ahLst/>
            <a:cxnLst/>
            <a:rect l="l" t="t" r="r" b="b"/>
            <a:pathLst>
              <a:path w="6089529" h="4704135" fill="norm" stroke="1" extrusionOk="0">
                <a:moveTo>
                  <a:pt x="0" y="0"/>
                </a:moveTo>
                <a:lnTo>
                  <a:pt x="6089528" y="0"/>
                </a:lnTo>
                <a:lnTo>
                  <a:pt x="6089528" y="4704135"/>
                </a:lnTo>
                <a:lnTo>
                  <a:pt x="0" y="470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685307516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171589192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51044660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15</a:t>
            </a:r>
            <a:endParaRPr/>
          </a:p>
        </p:txBody>
      </p:sp>
      <p:sp>
        <p:nvSpPr>
          <p:cNvPr id="2035441451" name="TextBox 8"/>
          <p:cNvSpPr txBox="1"/>
          <p:nvPr/>
        </p:nvSpPr>
        <p:spPr bwMode="auto">
          <a:xfrm rot="0" flipH="0" flipV="0">
            <a:off x="447562" y="69475"/>
            <a:ext cx="13577879" cy="7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Ra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ndom Forest: Impacto no Negócio</a:t>
            </a:r>
            <a:endParaRPr/>
          </a:p>
        </p:txBody>
      </p:sp>
      <p:sp>
        <p:nvSpPr>
          <p:cNvPr id="2022830482" name="TextBox 9"/>
          <p:cNvSpPr txBox="1"/>
          <p:nvPr/>
        </p:nvSpPr>
        <p:spPr bwMode="auto">
          <a:xfrm rot="0">
            <a:off x="631684" y="1261371"/>
            <a:ext cx="644448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Métrica</a:t>
            </a:r>
            <a:r>
              <a:rPr lang="en-US" sz="3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s e Estratégia de Retenção</a:t>
            </a:r>
            <a:endParaRPr/>
          </a:p>
        </p:txBody>
      </p:sp>
      <p:sp>
        <p:nvSpPr>
          <p:cNvPr id="1972254451" name="TextBox 10"/>
          <p:cNvSpPr txBox="1"/>
          <p:nvPr/>
        </p:nvSpPr>
        <p:spPr bwMode="auto">
          <a:xfrm rot="0">
            <a:off x="857250" y="2079025"/>
            <a:ext cx="5656808" cy="313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  <a:defRPr/>
            </a:pPr>
            <a:r>
              <a:rPr lang="en-US" sz="23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Acurácia Global: 82,3% de previsões corretas na base de teste.</a:t>
            </a:r>
            <a:endParaRPr/>
          </a:p>
          <a:p>
            <a:pPr marL="496571" lvl="1" indent="-248285" algn="l">
              <a:lnSpc>
                <a:spcPts val="3772"/>
              </a:lnSpc>
              <a:buFont typeface="Arial"/>
              <a:buChar char="•"/>
              <a:defRPr/>
            </a:pPr>
            <a:r>
              <a:rPr lang="en-US" sz="23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Recall</a:t>
            </a:r>
            <a:r>
              <a:rPr lang="en-US" sz="23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 (Sensibilidade): 82,3% o maior índice da nossa consultoria, mostrando máxima eficiência em "pescar" os clientes em risco de Churn.</a:t>
            </a:r>
            <a:endParaRPr/>
          </a:p>
        </p:txBody>
      </p:sp>
      <p:sp>
        <p:nvSpPr>
          <p:cNvPr id="1691509356" name="TextBox 11"/>
          <p:cNvSpPr txBox="1"/>
          <p:nvPr/>
        </p:nvSpPr>
        <p:spPr bwMode="auto">
          <a:xfrm rot="0">
            <a:off x="447563" y="6334310"/>
            <a:ext cx="13257203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Falsos Positivos (16.280): Clientes leais classificados como evasão. O modelo é altamente sensível, preferindo pecar pelo excesso de cautela (oferecer uma ação de retenção a quem não ia cancelar) do que perder o cliente</a:t>
            </a:r>
            <a:endParaRPr/>
          </a:p>
          <a:p>
            <a:pPr algn="ctr">
              <a:lnSpc>
                <a:spcPts val="3359"/>
              </a:lnSpc>
              <a:spcBef>
                <a:spcPts val="0"/>
              </a:spcBef>
              <a:defRPr/>
            </a:pPr>
            <a:endParaRPr lang="en-US" sz="2100">
              <a:solidFill>
                <a:srgbClr val="004AAD"/>
              </a:solidFill>
              <a:latin typeface="Montserrat"/>
              <a:ea typeface="Montserrat"/>
              <a:cs typeface="Montserrat"/>
            </a:endParaRP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Falsos Negativos (Apenas 4.728): Reduzimos drasticamente o pior risco de negócio.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171907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384397684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696723358" name="Freeform 4"/>
          <p:cNvSpPr/>
          <p:nvPr/>
        </p:nvSpPr>
        <p:spPr bwMode="auto">
          <a:xfrm rot="0" flipH="0" flipV="0">
            <a:off x="2474815" y="2417844"/>
            <a:ext cx="10280845" cy="3372186"/>
          </a:xfrm>
          <a:custGeom>
            <a:avLst/>
            <a:gdLst/>
            <a:ahLst/>
            <a:cxnLst/>
            <a:rect l="l" t="t" r="r" b="b"/>
            <a:pathLst>
              <a:path w="10280845" h="3372186" fill="norm" stroke="1" extrusionOk="0">
                <a:moveTo>
                  <a:pt x="0" y="0"/>
                </a:moveTo>
                <a:lnTo>
                  <a:pt x="10280845" y="0"/>
                </a:lnTo>
                <a:lnTo>
                  <a:pt x="10280845" y="3372187"/>
                </a:lnTo>
                <a:lnTo>
                  <a:pt x="0" y="3372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868959444" name="TextBox 5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700181156" name="TextBox 6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55704550" name="TextBox 7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16</a:t>
            </a:r>
            <a:endParaRPr/>
          </a:p>
        </p:txBody>
      </p:sp>
      <p:sp>
        <p:nvSpPr>
          <p:cNvPr id="1390438457" name="TextBox 8"/>
          <p:cNvSpPr txBox="1"/>
          <p:nvPr/>
        </p:nvSpPr>
        <p:spPr bwMode="auto">
          <a:xfrm rot="0" flipH="0" flipV="0">
            <a:off x="857250" y="177799"/>
            <a:ext cx="13602420" cy="7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Ra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ndom Forest: Estabilidade Técnica</a:t>
            </a:r>
            <a:endParaRPr/>
          </a:p>
        </p:txBody>
      </p:sp>
      <p:sp>
        <p:nvSpPr>
          <p:cNvPr id="1249467725" name="TextBox 9"/>
          <p:cNvSpPr txBox="1"/>
          <p:nvPr/>
        </p:nvSpPr>
        <p:spPr bwMode="auto">
          <a:xfrm rot="0">
            <a:off x="857250" y="1206065"/>
            <a:ext cx="1352550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Para gara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ntir que o resultado não foi "obra do acaso", a testamos o limite matemático do modelo simulando o crescimento da floresta até 150 árvores.</a:t>
            </a:r>
            <a:endParaRPr/>
          </a:p>
        </p:txBody>
      </p:sp>
      <p:sp>
        <p:nvSpPr>
          <p:cNvPr id="588047243" name="TextBox 10"/>
          <p:cNvSpPr txBox="1"/>
          <p:nvPr/>
        </p:nvSpPr>
        <p:spPr bwMode="auto">
          <a:xfrm rot="0">
            <a:off x="857250" y="6134285"/>
            <a:ext cx="12967244" cy="211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3402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Prevenção de Overfitting: as linhas provam que o modelo atinge a maturidade e estabiliza seu aprendizado (Acurácia e Log Loss).</a:t>
            </a:r>
            <a:endParaRPr/>
          </a:p>
          <a:p>
            <a:pPr marL="453392" lvl="1" indent="-226696" algn="l">
              <a:lnSpc>
                <a:spcPts val="3402"/>
              </a:lnSpc>
              <a:buFont typeface="Arial"/>
              <a:buChar char="•"/>
              <a:defRPr/>
            </a:pPr>
            <a:r>
              <a:rPr lang="en-US" sz="21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Eficiência: comprovamos que encontramos o ponto exato onde o erro matemático para de cair, entregando à empresa um modelo estatisticamente sólido, leve e pronto para ser executado todo mês.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35488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571498308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633851117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247308553" name="TextBox 5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17</a:t>
            </a:r>
            <a:endParaRPr/>
          </a:p>
        </p:txBody>
      </p:sp>
      <p:sp>
        <p:nvSpPr>
          <p:cNvPr id="379806286" name="TextBox 6"/>
          <p:cNvSpPr txBox="1"/>
          <p:nvPr/>
        </p:nvSpPr>
        <p:spPr bwMode="auto">
          <a:xfrm rot="0">
            <a:off x="5483237" y="177800"/>
            <a:ext cx="952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endParaRPr/>
          </a:p>
        </p:txBody>
      </p:sp>
      <p:sp>
        <p:nvSpPr>
          <p:cNvPr id="473578545" name="TextBox 7"/>
          <p:cNvSpPr txBox="1"/>
          <p:nvPr/>
        </p:nvSpPr>
        <p:spPr bwMode="auto">
          <a:xfrm rot="0">
            <a:off x="1171651" y="177800"/>
            <a:ext cx="259593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Conclusão</a:t>
            </a:r>
            <a:endParaRPr/>
          </a:p>
        </p:txBody>
      </p:sp>
      <p:sp>
        <p:nvSpPr>
          <p:cNvPr id="1111709277" name="TextBox 8"/>
          <p:cNvSpPr txBox="1"/>
          <p:nvPr/>
        </p:nvSpPr>
        <p:spPr bwMode="auto">
          <a:xfrm rot="0">
            <a:off x="1171651" y="1297129"/>
            <a:ext cx="12115599" cy="91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Ao i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nvés de eleger um único "vencedor", nossa recomendação é usar os dois algoritmos em conjunto, pois eles resolvem problemas diferentes da empresa:</a:t>
            </a:r>
            <a:endParaRPr/>
          </a:p>
        </p:txBody>
      </p:sp>
      <p:sp>
        <p:nvSpPr>
          <p:cNvPr id="577230040" name="TextBox 9"/>
          <p:cNvSpPr txBox="1"/>
          <p:nvPr/>
        </p:nvSpPr>
        <p:spPr bwMode="auto">
          <a:xfrm rot="0">
            <a:off x="7615238" y="781050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18267136" name="TextBox 10"/>
          <p:cNvSpPr txBox="1"/>
          <p:nvPr/>
        </p:nvSpPr>
        <p:spPr bwMode="auto">
          <a:xfrm rot="0">
            <a:off x="857250" y="2444537"/>
            <a:ext cx="12547164" cy="428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29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 Regressão Logística (Foco </a:t>
            </a: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na Estratégia): Com 85.5% de acurácia, ele é o nosso modelo transparente. Ele nos provou matematicamente o que faz o cliente ir embora (contratos mensais e fibra óptica). É a ferramenta perfeita para a diretoria repensar os produtos da empresa.</a:t>
            </a:r>
            <a:endParaRPr/>
          </a:p>
          <a:p>
            <a:pPr marL="518160" lvl="1" indent="-259080" algn="l">
              <a:lnSpc>
                <a:spcPts val="4296"/>
              </a:lnSpc>
              <a:buFont typeface="Arial"/>
              <a:buChar char="•"/>
              <a:defRPr/>
            </a:pPr>
            <a:r>
              <a:rPr lang="en-US" sz="24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Random Forest (Foco na Operação): Com um Recall de (82.3%), ele atua como nosso "cão de guarda". Ele aceita errar um pouco mais nos Falsos Positivos só para ter certeza de que quase nenhum cancelamento passe batido. É ideal para o uso diário da equipe de atendimento.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344915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665289541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754508191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982713367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33506740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18</a:t>
            </a:r>
            <a:endParaRPr/>
          </a:p>
        </p:txBody>
      </p:sp>
      <p:sp>
        <p:nvSpPr>
          <p:cNvPr id="1229081836" name="TextBox 7"/>
          <p:cNvSpPr txBox="1"/>
          <p:nvPr/>
        </p:nvSpPr>
        <p:spPr bwMode="auto">
          <a:xfrm rot="0" flipH="0" flipV="0">
            <a:off x="857250" y="263484"/>
            <a:ext cx="11686525" cy="7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defRPr/>
            </a:pP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Pla</a:t>
            </a:r>
            <a:r>
              <a:rPr lang="en-US" sz="40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no de Ação: Próximos Passos</a:t>
            </a:r>
            <a:endParaRPr/>
          </a:p>
        </p:txBody>
      </p:sp>
      <p:sp>
        <p:nvSpPr>
          <p:cNvPr id="795723516" name="TextBox 8"/>
          <p:cNvSpPr txBox="1"/>
          <p:nvPr/>
        </p:nvSpPr>
        <p:spPr bwMode="auto">
          <a:xfrm rot="0">
            <a:off x="857250" y="1392817"/>
            <a:ext cx="13198482" cy="6552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Com base nos dados, o que a empresa pode fazer para reduzir a perda de clientes?</a:t>
            </a:r>
            <a:endParaRPr/>
          </a:p>
          <a:p>
            <a:pPr algn="l">
              <a:lnSpc>
                <a:spcPts val="3294"/>
              </a:lnSpc>
              <a:defRPr/>
            </a:pPr>
            <a:endParaRPr lang="en-US" sz="235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1. Mudar a forma de vender a Fibra Óptica:</a:t>
            </a:r>
            <a:endParaRPr/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Vender a internet de fibra isolada (sem outros serviços) provou ser um risco enorme. A empresa precisa criar combos com descontos agressivos para incentivar a assinatura de 3 ou mais serviços, "amarrando" o cliente.</a:t>
            </a:r>
            <a:endParaRPr/>
          </a:p>
          <a:p>
            <a:pPr algn="l">
              <a:lnSpc>
                <a:spcPts val="3294"/>
              </a:lnSpc>
              <a:defRPr/>
            </a:pPr>
            <a:endParaRPr lang="en-US" sz="235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2. Fugir do Contrato Mensal:</a:t>
            </a:r>
            <a:endParaRPr/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É o formato que mais gera evasão. Sugerimos subsidiar a primeira mensalidade ou dar bô</a:t>
            </a: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nus para convencer o cliente a fechar o plano Anual logo no primeiro contato.</a:t>
            </a:r>
            <a:endParaRPr/>
          </a:p>
          <a:p>
            <a:pPr algn="l">
              <a:lnSpc>
                <a:spcPts val="3294"/>
              </a:lnSpc>
              <a:defRPr/>
            </a:pPr>
            <a:endParaRPr lang="en-US" sz="235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3. Ligar para a pessoa certa (Radar de Churn):</a:t>
            </a:r>
            <a:endParaRPr/>
          </a:p>
          <a:p>
            <a:pPr algn="l">
              <a:lnSpc>
                <a:spcPts val="3294"/>
              </a:lnSpc>
              <a:defRPr/>
            </a:pPr>
            <a:r>
              <a:rPr lang="en-US" sz="235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Colocar o Random Forest para rodar no sistema da empresa. Em vez da equipe de retenção tentar adivinhar quem vai cancelar, eles vão oferecer descontos preventivos apenas para a lista vermelha gerada pelo modelo todo mês.</a:t>
            </a:r>
            <a:endParaRPr/>
          </a:p>
          <a:p>
            <a:pPr algn="l">
              <a:lnSpc>
                <a:spcPts val="3294"/>
              </a:lnSpc>
              <a:defRPr/>
            </a:pPr>
            <a:endParaRPr lang="en-US" sz="2350">
              <a:solidFill>
                <a:srgbClr val="004AAD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911271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603077233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473204479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648070782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0744984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19</a:t>
            </a:r>
            <a:endParaRPr/>
          </a:p>
        </p:txBody>
      </p:sp>
      <p:sp>
        <p:nvSpPr>
          <p:cNvPr id="219257996" name="TextBox 7"/>
          <p:cNvSpPr txBox="1"/>
          <p:nvPr/>
        </p:nvSpPr>
        <p:spPr bwMode="auto">
          <a:xfrm rot="0">
            <a:off x="857250" y="777501"/>
            <a:ext cx="370939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defRPr/>
            </a:pP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M</a:t>
            </a: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uito Obrigado!</a:t>
            </a:r>
            <a:endParaRPr/>
          </a:p>
        </p:txBody>
      </p:sp>
      <p:sp>
        <p:nvSpPr>
          <p:cNvPr id="1039876808" name="TextBox 8"/>
          <p:cNvSpPr txBox="1"/>
          <p:nvPr/>
        </p:nvSpPr>
        <p:spPr bwMode="auto">
          <a:xfrm rot="0">
            <a:off x="820453" y="3493332"/>
            <a:ext cx="8185100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Eloísa da Silva Costa</a:t>
            </a:r>
            <a:endParaRPr/>
          </a:p>
          <a:p>
            <a:pPr algn="l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Richard Matheus Avelino da Silva</a:t>
            </a:r>
            <a:endParaRPr/>
          </a:p>
          <a:p>
            <a:pPr algn="l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/>
                </a:solidFill>
                <a:latin typeface="Montserrat"/>
                <a:ea typeface="Montserrat"/>
                <a:cs typeface="Montserrat"/>
              </a:rPr>
              <a:t>Túlio Herculano Silva Lima</a:t>
            </a:r>
            <a:endParaRPr/>
          </a:p>
        </p:txBody>
      </p:sp>
      <p:sp>
        <p:nvSpPr>
          <p:cNvPr id="2144551274" name="TextBox 9"/>
          <p:cNvSpPr txBox="1"/>
          <p:nvPr/>
        </p:nvSpPr>
        <p:spPr bwMode="auto">
          <a:xfrm rot="0">
            <a:off x="474092" y="2341644"/>
            <a:ext cx="81851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defRPr/>
            </a:pP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Equipe de Co</a:t>
            </a:r>
            <a:r>
              <a:rPr lang="en-US" sz="360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</a:rPr>
              <a:t>nsultoria Estatística: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E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400767" name="Freeform 2"/>
          <p:cNvSpPr/>
          <p:nvPr/>
        </p:nvSpPr>
        <p:spPr bwMode="auto">
          <a:xfrm rot="0" flipH="0" flipV="0">
            <a:off x="5322655" y="1530070"/>
            <a:ext cx="4594690" cy="4594690"/>
          </a:xfrm>
          <a:custGeom>
            <a:avLst/>
            <a:gdLst/>
            <a:ahLst/>
            <a:cxnLst/>
            <a:rect l="l" t="t" r="r" b="b"/>
            <a:pathLst>
              <a:path w="4594690" h="4594690" fill="norm" stroke="1" extrusionOk="0">
                <a:moveTo>
                  <a:pt x="0" y="0"/>
                </a:moveTo>
                <a:lnTo>
                  <a:pt x="4594690" y="0"/>
                </a:lnTo>
                <a:lnTo>
                  <a:pt x="4594690" y="4594690"/>
                </a:lnTo>
                <a:lnTo>
                  <a:pt x="0" y="4594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0" t="0" r="0" b="0"/>
            </a:stretch>
          </a:blipFill>
        </p:spPr>
      </p:sp>
      <p:sp>
        <p:nvSpPr>
          <p:cNvPr id="1191614464" name="Freeform 3"/>
          <p:cNvSpPr/>
          <p:nvPr/>
        </p:nvSpPr>
        <p:spPr bwMode="auto">
          <a:xfrm rot="0" flipH="0" flipV="0">
            <a:off x="6234447" y="2408319"/>
            <a:ext cx="2771106" cy="2838191"/>
          </a:xfrm>
          <a:custGeom>
            <a:avLst/>
            <a:gdLst/>
            <a:ahLst/>
            <a:cxnLst/>
            <a:rect l="l" t="t" r="r" b="b"/>
            <a:pathLst>
              <a:path w="2771106" h="2838191" fill="norm" stroke="1" extrusionOk="0">
                <a:moveTo>
                  <a:pt x="0" y="0"/>
                </a:moveTo>
                <a:lnTo>
                  <a:pt x="2771106" y="0"/>
                </a:lnTo>
                <a:lnTo>
                  <a:pt x="2771106" y="2838191"/>
                </a:lnTo>
                <a:lnTo>
                  <a:pt x="0" y="283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"/>
            </a:blip>
            <a:stretch>
              <a:fillRect l="0" t="0" r="0" b="0"/>
            </a:stretch>
          </a:blipFill>
        </p:spPr>
      </p:sp>
      <p:sp>
        <p:nvSpPr>
          <p:cNvPr id="1213330680" name="TextBox 4"/>
          <p:cNvSpPr txBox="1"/>
          <p:nvPr/>
        </p:nvSpPr>
        <p:spPr bwMode="auto">
          <a:xfrm rot="0">
            <a:off x="5635228" y="6362360"/>
            <a:ext cx="3969544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r>
              <a:rPr lang="en-US" sz="3900">
                <a:solidFill>
                  <a:srgbClr val="004AAD">
                    <a:alpha val="4706"/>
                  </a:srgbClr>
                </a:solidFill>
                <a:latin typeface="Montserrat"/>
                <a:ea typeface="Montserrat"/>
                <a:cs typeface="Montserrat"/>
              </a:rPr>
              <a:t>RET </a:t>
            </a:r>
            <a:r>
              <a:rPr lang="en-US" sz="3900" i="1">
                <a:solidFill>
                  <a:srgbClr val="004AAD">
                    <a:alpha val="4706"/>
                  </a:srgbClr>
                </a:solidFill>
                <a:latin typeface="Montserrat Italics"/>
                <a:ea typeface="Montserrat Italics"/>
                <a:cs typeface="Montserrat Italics"/>
              </a:rPr>
              <a:t>Consultoria</a:t>
            </a:r>
            <a:endParaRPr/>
          </a:p>
        </p:txBody>
      </p:sp>
      <p:sp>
        <p:nvSpPr>
          <p:cNvPr id="1568038764" name="TextBox 5"/>
          <p:cNvSpPr txBox="1"/>
          <p:nvPr/>
        </p:nvSpPr>
        <p:spPr bwMode="auto">
          <a:xfrm rot="0">
            <a:off x="7615238" y="767976"/>
            <a:ext cx="952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5189920" name="TextBox 6"/>
          <p:cNvSpPr txBox="1"/>
          <p:nvPr/>
        </p:nvSpPr>
        <p:spPr bwMode="auto">
          <a:xfrm rot="0"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defRPr/>
            </a:pPr>
            <a:r>
              <a:rPr lang="en-US" sz="2000">
                <a:solidFill>
                  <a:srgbClr val="004AAD"/>
                </a:solidFill>
                <a:latin typeface="Open Sans"/>
                <a:ea typeface="Open Sans"/>
                <a:cs typeface="Open Sans"/>
              </a:rPr>
              <a:t>20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Anúncio para Twitter Gestão de Negócios e Consultoria Azul Cinza</dc:title>
  <dc:identifier>DAHOYze12GI</dc:identifier>
  <cp:lastModifiedBy/>
  <cp:revision>2</cp:revision>
  <dcterms:created xsi:type="dcterms:W3CDTF">2006-08-16T00:00:00Z</dcterms:created>
  <dcterms:modified xsi:type="dcterms:W3CDTF">2026-08-18T14:17:06Z</dcterms:modified>
</cp:coreProperties>
</file>